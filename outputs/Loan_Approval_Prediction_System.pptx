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E86AB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0.726</c:v>
                </c:pt>
                <c:pt idx="1">
                  <c:v>0.693</c:v>
                </c:pt>
                <c:pt idx="2">
                  <c:v>0.706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4CAF50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0.7316</c:v>
                </c:pt>
                <c:pt idx="1">
                  <c:v>0.7171</c:v>
                </c:pt>
                <c:pt idx="2">
                  <c:v>0.7089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09C1F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0.8746</c:v>
                </c:pt>
                <c:pt idx="1">
                  <c:v>0.8257</c:v>
                </c:pt>
                <c:pt idx="2">
                  <c:v>0.8844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Logistic Regression</c:v>
                </c:pt>
                <c:pt idx="1">
                  <c:v>Decision Tree</c:v>
                </c:pt>
                <c:pt idx="2">
                  <c:v>Random Forest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0.7967</c:v>
                </c:pt>
                <c:pt idx="1">
                  <c:v>0.7676</c:v>
                </c:pt>
                <c:pt idx="2">
                  <c:v>0.787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Loan Approval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FDDEE"/>
                </a:solidFill>
              </a:defRPr>
            </a:pPr>
            <a:r>
              <a:t>Predicting loan approval, amount, and rejection reasons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FB3CC"/>
                </a:solidFill>
              </a:defRPr>
            </a:pPr>
            <a:r>
              <a:t>Python  |  SQL  |  Pandas  |  Scikit-learn  | 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What Is This Project?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A system that looks at a loan applicant's details and makes a real lending decision.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It answers 3 questions:</a:t>
            </a:r>
          </a:p>
          <a:p>
            <a:pPr>
              <a:spcAft>
                <a:spcPts val="1000"/>
              </a:spcAft>
              <a:defRPr sz="1900">
                <a:solidFill>
                  <a:srgbClr val="595959"/>
                </a:solidFill>
              </a:defRPr>
            </a:pPr>
            <a:r>
              <a:t>   -  1. Should the loan be Approved or Rejected?</a:t>
            </a:r>
          </a:p>
          <a:p>
            <a:pPr>
              <a:spcAft>
                <a:spcPts val="1000"/>
              </a:spcAft>
              <a:defRPr sz="1900">
                <a:solidFill>
                  <a:srgbClr val="595959"/>
                </a:solidFill>
              </a:defRPr>
            </a:pPr>
            <a:r>
              <a:t>   -  2. If approved, how much amount should be given?</a:t>
            </a:r>
          </a:p>
          <a:p>
            <a:pPr>
              <a:spcAft>
                <a:spcPts val="1000"/>
              </a:spcAft>
              <a:defRPr sz="1900">
                <a:solidFill>
                  <a:srgbClr val="595959"/>
                </a:solidFill>
              </a:defRPr>
            </a:pPr>
            <a:r>
              <a:t>   -  3. If rejected, what is the exact reason?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Built end-to-end: raw data -&gt; cleaning -&gt; machine learning -&gt; business decision -&gt;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Technology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Data &amp;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Python - cleaning data &amp; building the model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Pandas - organizing &amp; transforming data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Scikit-learn - training &amp; comparing ML models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SQL (SQLite) - storing &amp; querying applicant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9C1F"/>
                </a:solidFill>
              </a:defRPr>
            </a:pPr>
            <a:r>
              <a:t>Reporting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659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Power BI - dashboards for approval rate, risk, income trends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Joblib - saving the trained model for reuse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Matplotlib/Seaborn - confusion matrix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How It Works - The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1539392" y="2651760"/>
            <a:ext cx="2651760" cy="1371600"/>
          </a:xfrm>
          <a:prstGeom prst="roundRect">
            <a:avLst/>
          </a:prstGeom>
          <a:solidFill>
            <a:srgbClr val="2E86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1. Clean</a:t>
            </a:r>
            <a:br/>
            <a:r>
              <a:t>Data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112368" y="3200400"/>
            <a:ext cx="5029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15288" y="2651760"/>
            <a:ext cx="2651760" cy="1371600"/>
          </a:xfrm>
          <a:prstGeom prst="roundRect">
            <a:avLst/>
          </a:prstGeom>
          <a:solidFill>
            <a:srgbClr val="1F38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2. Load to</a:t>
            </a:r>
            <a:br/>
            <a:r>
              <a:t>SQL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67048" y="3200400"/>
            <a:ext cx="5029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69968" y="2651760"/>
            <a:ext cx="2651760" cy="1371600"/>
          </a:xfrm>
          <a:prstGeom prst="roundRect">
            <a:avLst/>
          </a:prstGeom>
          <a:solidFill>
            <a:srgbClr val="2E86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3. Engineer</a:t>
            </a:r>
            <a:br/>
            <a:r>
              <a:t>Features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21728" y="3200400"/>
            <a:ext cx="5029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24648" y="2651760"/>
            <a:ext cx="2651760" cy="1371600"/>
          </a:xfrm>
          <a:prstGeom prst="roundRect">
            <a:avLst/>
          </a:prstGeom>
          <a:solidFill>
            <a:srgbClr val="1F38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4. Train &amp;</a:t>
            </a:r>
            <a:br/>
            <a:r>
              <a:t>Compare Models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0576408" y="3200400"/>
            <a:ext cx="5029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079328" y="2651760"/>
            <a:ext cx="2651760" cy="1371600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5. Predict &amp;</a:t>
            </a:r>
            <a:br/>
            <a:r>
              <a:t>Decide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5,000 sample loan applicant records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Includes: Gender, Marital Status, Education, Employment Status, Income, Co-applicant Income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Also includes: Loan Amount, Loan Term, Credit Score, Credit History, Existing Loans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Target column: Loan_Status - Approved (Y) or Rejected (N)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Data is realistic - includes missing values, duplicate entries, and inconsistent text, just like real bank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Data Cleaning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Data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Fill missing values (mode for categories, median for numbers)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Fix inconsistent text (spacing, capitalization)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Remove duplicate applications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Fix out-of-range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46304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09C1F"/>
                </a:solidFill>
              </a:defRPr>
            </a:pPr>
            <a:r>
              <a:t>New Features Created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96596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Total Income (applicant + co-applicant)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EMI - estimated monthly installment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Balance Income - income left after EMI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Debt-to-Income Ratio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•  Risk Category - Low / Medium / High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Machine Learning Models Compared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Logistic Regression - simple, adds up weighted factors to decide. Easy to explain.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Decision Tree - works like a flowchart of yes/no questions.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Random Forest - builds many decision trees and lets them vote together.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All 3 were trained on the same data and compared fairly using the same test 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Model Comparison -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73736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5E20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5E20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5E20"/>
                          </a:solidFill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5E20"/>
                          </a:solidFill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B5E20"/>
                          </a:solidFill>
                        </a:defRPr>
                      </a:pPr>
                      <a:r>
                        <a:t>0.80</a:t>
                      </a:r>
                    </a:p>
                  </a:txBody>
                  <a:tcPr>
                    <a:solidFill>
                      <a:srgbClr val="E8F3E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0.72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0.83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0.71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0.88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22222"/>
                          </a:solidFill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Model Comparison - 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10332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Confusion Matrices - Where Each Model Went Right or Wrong</a:t>
            </a:r>
          </a:p>
        </p:txBody>
      </p:sp>
      <p:pic>
        <p:nvPicPr>
          <p:cNvPr id="3" name="Picture 2" descr="confusion_matrix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3576218" cy="28609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357621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Logistic Regression</a:t>
            </a:r>
          </a:p>
        </p:txBody>
      </p:sp>
      <p:pic>
        <p:nvPicPr>
          <p:cNvPr id="5" name="Picture 4" descr="confusion_matrix_decision_tr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738" y="1645920"/>
            <a:ext cx="3576218" cy="2860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07738" y="5943600"/>
            <a:ext cx="357621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Decision Tree</a:t>
            </a:r>
          </a:p>
        </p:txBody>
      </p:sp>
      <p:pic>
        <p:nvPicPr>
          <p:cNvPr id="7" name="Picture 6" descr="confusion_matrix_random_fo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1645920"/>
            <a:ext cx="3576218" cy="286097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58276" y="5943600"/>
            <a:ext cx="3576218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F3864"/>
                </a:solidFill>
              </a:defRPr>
            </a:pPr>
            <a:r>
              <a:t>Random Forest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Best Model Selected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Winner: Logistic Regression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Accuracy: 72.6%   |   Precision: 73.2%   |   Recall: 87.5%   |   F1-Score: 79.7%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Selected using F1-Score, because it balances two types of mistakes:</a:t>
            </a:r>
          </a:p>
          <a:p>
            <a:pPr>
              <a:spcAft>
                <a:spcPts val="1000"/>
              </a:spcAft>
              <a:defRPr sz="1900">
                <a:solidFill>
                  <a:srgbClr val="595959"/>
                </a:solidFill>
              </a:defRPr>
            </a:pPr>
            <a:r>
              <a:t>   -  Approving a risky applicant (bad for the bank)</a:t>
            </a:r>
          </a:p>
          <a:p>
            <a:pPr>
              <a:spcAft>
                <a:spcPts val="1000"/>
              </a:spcAft>
              <a:defRPr sz="1900">
                <a:solidFill>
                  <a:srgbClr val="595959"/>
                </a:solidFill>
              </a:defRPr>
            </a:pPr>
            <a:r>
              <a:t>   -  Rejecting a good applicant (bad for the customer)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Saved using joblib as best_model.pkl - ready to reuse without retraining.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From Prediction to Real Decision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15287" y="2651760"/>
            <a:ext cx="2651760" cy="1371600"/>
          </a:xfrm>
          <a:prstGeom prst="roundRect">
            <a:avLst/>
          </a:prstGeom>
          <a:solidFill>
            <a:srgbClr val="2E86A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ML Model</a:t>
            </a:r>
            <a:br/>
            <a:r>
              <a:t>(Approve/Reject)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267047" y="3200400"/>
            <a:ext cx="5029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769967" y="2651760"/>
            <a:ext cx="2651760" cy="1371600"/>
          </a:xfrm>
          <a:prstGeom prst="roundRect">
            <a:avLst/>
          </a:prstGeom>
          <a:solidFill>
            <a:srgbClr val="F09C1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Affordability</a:t>
            </a:r>
            <a:br/>
            <a:r>
              <a:t>Check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421727" y="3200400"/>
            <a:ext cx="502920" cy="274320"/>
          </a:xfrm>
          <a:prstGeom prst="rightArrow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24647" y="2651760"/>
            <a:ext cx="2651760" cy="1371600"/>
          </a:xfrm>
          <a:prstGeom prst="roundRect">
            <a:avLst/>
          </a:prstGeom>
          <a:solidFill>
            <a:srgbClr val="4CAF5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Final Decision</a:t>
            </a:r>
            <a:br/>
            <a:r>
              <a:t>+ Amount + Reason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Loan Decision Logic (Simple Explanation)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Step 1: The ML model predicts if the applicant is creditworthy (Approve / Reject).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Step 2: A simple rule checks how much loan the applicant can actually afford, based on income.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Result: Approved (full amount), Partially Approved (reduced amount), or Rejected.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If rejected, the system lists plain-language reasons - low credit score, high debt, unemployment, etc.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All amounts are shown in Rupees (e.g. Rs 1,20,000).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 single ready-to-use file: loan_dashboard_data.csv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Dashboard shows: Approval rate, Rejection rate, Risk category breakdown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Also shows: Credit score analysis, Income analysis, Loan amount trends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Also shows: Applicant profile summary, Approved amount vs. requested amount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Business teams can explore this without touching any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Credit history is the strongest predictor of loan approval.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High debt-to-income ratio leads to rejection, even for small loan amounts.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Unemployed applicants are rejected more often, even at similar income levels.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The affordability check catches cases where a good applicant asks for too much money.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•  Outcome: faster, consistent, explainable loan decisions - less manual work for loan officers.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Built a complete, working loan approval system - from raw data to final decision.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Compared 3 machine learning models and picked the best one using proper evaluation.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Added a real-world decision layer: approved amount + rejection reason, not just yes/no.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Delivered a live Power BI dashboard for business reporting.</a:t>
            </a:r>
          </a:p>
          <a:p>
            <a:pPr>
              <a:spcAft>
                <a:spcPts val="1000"/>
              </a:spcAft>
              <a:defRPr sz="2200">
                <a:solidFill>
                  <a:srgbClr val="222222"/>
                </a:solidFill>
              </a:defRPr>
            </a:pPr>
            <a:r>
              <a:t>•  Fully deployable: saved model + preprocessing pipeline, ready to reuse.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FDDEE"/>
                </a:solidFill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FB3CC"/>
                </a:solidFill>
              </a:defRPr>
            </a:pPr>
            <a:r>
              <a:t>Loan Approval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